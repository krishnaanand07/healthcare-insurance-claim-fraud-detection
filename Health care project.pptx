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7bc7f3e524da7" /><Relationship Type="http://schemas.openxmlformats.org/officeDocument/2006/relationships/extended-properties" Target="/docProps/app.xml" Id="R4fcc019035cf4d0f" /><Relationship Type="http://schemas.openxmlformats.org/officeDocument/2006/relationships/officeDocument" Target="/ppt/presentation.xml" Id="R98d4e9590afb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77ad3b16c4bab"/>
  </p:sldMasterIdLst>
  <p:notesMasterIdLst>
    <p:notesMasterId xmlns:r="http://schemas.openxmlformats.org/officeDocument/2006/relationships" r:id="Rd54cb21e70244941"/>
  </p:notesMasterIdLst>
  <p:sldIdLst>
    <p:sldId xmlns:r="http://schemas.openxmlformats.org/officeDocument/2006/relationships" id="256" r:id="R2026cbe4fcbc44b9"/>
    <p:sldId xmlns:r="http://schemas.openxmlformats.org/officeDocument/2006/relationships" id="257" r:id="Rf75b0af41e9d4332"/>
    <p:sldId xmlns:r="http://schemas.openxmlformats.org/officeDocument/2006/relationships" id="258" r:id="Rae97e6eadf1e471f"/>
    <p:sldId xmlns:r="http://schemas.openxmlformats.org/officeDocument/2006/relationships" id="259" r:id="R130d47f9db40448c"/>
    <p:sldId xmlns:r="http://schemas.openxmlformats.org/officeDocument/2006/relationships" id="260" r:id="R5ef8dd4e69964075"/>
    <p:sldId xmlns:r="http://schemas.openxmlformats.org/officeDocument/2006/relationships" id="261" r:id="R5d51b94e16574ab7"/>
    <p:sldId xmlns:r="http://schemas.openxmlformats.org/officeDocument/2006/relationships" id="262" r:id="Rc87a80ecb7ed4f70"/>
    <p:sldId xmlns:r="http://schemas.openxmlformats.org/officeDocument/2006/relationships" id="263" r:id="R4fcaa800d74b4ac6"/>
    <p:sldId xmlns:r="http://schemas.openxmlformats.org/officeDocument/2006/relationships" id="264" r:id="R061bc0aec2ed47ac"/>
    <p:sldId xmlns:r="http://schemas.openxmlformats.org/officeDocument/2006/relationships" id="265" r:id="R8111a53cabfc48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ab27bd080b4984" /><Relationship Type="http://schemas.openxmlformats.org/officeDocument/2006/relationships/slideMaster" Target="/ppt/slideMasters/slideMaster1.xml" Id="Rd6d77ad3b16c4bab" /><Relationship Type="http://schemas.openxmlformats.org/officeDocument/2006/relationships/notesMaster" Target="/ppt/notesMasters/notesMaster1.xml" Id="Rd54cb21e70244941" /><Relationship Type="http://schemas.openxmlformats.org/officeDocument/2006/relationships/presProps" Target="/ppt/presProps.xml" Id="R16358fe22ca74ebd" /><Relationship Type="http://schemas.openxmlformats.org/officeDocument/2006/relationships/tableStyles" Target="/ppt/tableStyles.xml" Id="R833f842eca4d4b65" /><Relationship Type="http://schemas.openxmlformats.org/officeDocument/2006/relationships/slide" Target="/ppt/slides/slide1.xml" Id="R2026cbe4fcbc44b9" /><Relationship Type="http://schemas.openxmlformats.org/officeDocument/2006/relationships/slide" Target="/ppt/slides/slide2.xml" Id="Rf75b0af41e9d4332" /><Relationship Type="http://schemas.openxmlformats.org/officeDocument/2006/relationships/slide" Target="/ppt/slides/slide3.xml" Id="Rae97e6eadf1e471f" /><Relationship Type="http://schemas.openxmlformats.org/officeDocument/2006/relationships/slide" Target="/ppt/slides/slide4.xml" Id="R130d47f9db40448c" /><Relationship Type="http://schemas.openxmlformats.org/officeDocument/2006/relationships/slide" Target="/ppt/slides/slide5.xml" Id="R5ef8dd4e69964075" /><Relationship Type="http://schemas.openxmlformats.org/officeDocument/2006/relationships/slide" Target="/ppt/slides/slide6.xml" Id="R5d51b94e16574ab7" /><Relationship Type="http://schemas.openxmlformats.org/officeDocument/2006/relationships/slide" Target="/ppt/slides/slide7.xml" Id="Rc87a80ecb7ed4f70" /><Relationship Type="http://schemas.openxmlformats.org/officeDocument/2006/relationships/slide" Target="/ppt/slides/slide8.xml" Id="R4fcaa800d74b4ac6" /><Relationship Type="http://schemas.openxmlformats.org/officeDocument/2006/relationships/slide" Target="/ppt/slides/slide9.xml" Id="R061bc0aec2ed47ac" /><Relationship Type="http://schemas.openxmlformats.org/officeDocument/2006/relationships/slide" Target="/ppt/slides/slide10.xml" Id="R8111a53cabfc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aaa80ff58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b59e1d85c4f1f" /><Relationship Type="http://schemas.openxmlformats.org/officeDocument/2006/relationships/notesMaster" Target="/ppt/notesMasters/notesMaster1.xml" Id="R234d72584ce2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5a05b737e343a5" /><Relationship Type="http://schemas.openxmlformats.org/officeDocument/2006/relationships/notesMaster" Target="/ppt/notesMasters/notesMaster1.xml" Id="R2478ee6dcf884d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df6af50a64ca5" /><Relationship Type="http://schemas.openxmlformats.org/officeDocument/2006/relationships/notesMaster" Target="/ppt/notesMasters/notesMaster1.xml" Id="Ra1f8bd8dbed8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70eefc9ec43ee" /><Relationship Type="http://schemas.openxmlformats.org/officeDocument/2006/relationships/notesMaster" Target="/ppt/notesMasters/notesMaster1.xml" Id="R07fe52e82e3d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0499f012314107" /><Relationship Type="http://schemas.openxmlformats.org/officeDocument/2006/relationships/notesMaster" Target="/ppt/notesMasters/notesMaster1.xml" Id="R34e3dfed8555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de2765e2f4d2d" /><Relationship Type="http://schemas.openxmlformats.org/officeDocument/2006/relationships/notesMaster" Target="/ppt/notesMasters/notesMaster1.xml" Id="R09f1013f3338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2f987b21f74f8d" /><Relationship Type="http://schemas.openxmlformats.org/officeDocument/2006/relationships/notesMaster" Target="/ppt/notesMasters/notesMaster1.xml" Id="R84f4b39ead39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1dadc2a9fc4582" /><Relationship Type="http://schemas.openxmlformats.org/officeDocument/2006/relationships/notesMaster" Target="/ppt/notesMasters/notesMaster1.xml" Id="R91a1bb3dc0d446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d12cf0e5d4aa6" /><Relationship Type="http://schemas.openxmlformats.org/officeDocument/2006/relationships/notesMaster" Target="/ppt/notesMasters/notesMaster1.xml" Id="R8908bae4706344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01fa32c6c14bf2" /><Relationship Type="http://schemas.openxmlformats.org/officeDocument/2006/relationships/notesMaster" Target="/ppt/notesMasters/notesMaster1.xml" Id="Rc2a2d3c4c4884c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5a290804e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29fe5a4ec464c" /><Relationship Type="http://schemas.openxmlformats.org/officeDocument/2006/relationships/slideLayout" Target="/ppt/slideLayouts/slideLayout1.xml" Id="R803895f94d3441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895f94d3441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76d0a80af419d" /><Relationship Type="http://schemas.openxmlformats.org/officeDocument/2006/relationships/image" Target="/ppt/media/image.png" Id="R8dff771b363d46ed" /><Relationship Type="http://schemas.openxmlformats.org/officeDocument/2006/relationships/notesSlide" Target="/ppt/notesSlides/notesSlide1.xml" Id="R5d7734a3a551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e2b42cc584249" /><Relationship Type="http://schemas.openxmlformats.org/officeDocument/2006/relationships/notesSlide" Target="/ppt/notesSlides/notesSlide2.xml" Id="R3dcab3a9a45f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dd025edfa411b" /><Relationship Type="http://schemas.openxmlformats.org/officeDocument/2006/relationships/notesSlide" Target="/ppt/notesSlides/notesSlide3.xml" Id="R84c046fb976d4d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fbaa1a9f648a9" /><Relationship Type="http://schemas.openxmlformats.org/officeDocument/2006/relationships/notesSlide" Target="/ppt/notesSlides/notesSlide4.xml" Id="Rb76ad4138dca4b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ef863bf34de7" /><Relationship Type="http://schemas.openxmlformats.org/officeDocument/2006/relationships/notesSlide" Target="/ppt/notesSlides/notesSlide5.xml" Id="R781b5591aa604e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c678bfb344e45" /><Relationship Type="http://schemas.openxmlformats.org/officeDocument/2006/relationships/notesSlide" Target="/ppt/notesSlides/notesSlide6.xml" Id="R7228bdda79f041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25fa394a4dc4" /><Relationship Type="http://schemas.openxmlformats.org/officeDocument/2006/relationships/notesSlide" Target="/ppt/notesSlides/notesSlide7.xml" Id="R603b30bb78a344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1b357a12f4eb4" /><Relationship Type="http://schemas.openxmlformats.org/officeDocument/2006/relationships/notesSlide" Target="/ppt/notesSlides/notesSlide8.xml" Id="R7a618dcb5558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2bf205ccb4b46" /><Relationship Type="http://schemas.openxmlformats.org/officeDocument/2006/relationships/notesSlide" Target="/ppt/notesSlides/notesSlide9.xml" Id="R836f361bfcb544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a4b7196c43ad" /><Relationship Type="http://schemas.openxmlformats.org/officeDocument/2006/relationships/notesSlide" Target="/ppt/notesSlides/notesSlide10.xml" Id="Rf63ffa748e044f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E8712-408C-42B5-A20B-75694AD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2FED2-D9C7-4C77-BD16-C995B3E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Healthcare Insurance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07411-DCAB-40D4-ACE2-E2F400B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91B2"/>
                </a:solidFill>
              </a:defRPr>
            </a:pPr>
            <a:r>
              <a:rPr sz="4200" b="1">
                <a:solidFill>
                  <a:srgbClr val="0891B2"/>
                </a:solidFill>
              </a:rPr>
              <a:t>Fraud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A27C0-7780-47A9-AE34-34CCD8EF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An end-to-end machine learning system that flags suspicious healthcare claims before payout.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5FCD8-DA1D-4F27-978F-7347891A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1FCEC-B8F6-45B0-92EC-2EF77E2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46E5"/>
                </a:solidFill>
              </a:defRPr>
            </a:pPr>
            <a:r>
              <a:rPr sz="2175" b="1">
                <a:solidFill>
                  <a:srgbClr val="4F46E5"/>
                </a:solidFill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CF42E-FC30-489D-870B-1528F28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Primary deployed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CBEE9-DD94-48A2-AE96-DBA7C3B5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0611E-AD1E-4630-AF5D-41EC5566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91B2"/>
                </a:solidFill>
              </a:defRPr>
            </a:pPr>
            <a:r>
              <a:rPr sz="2175" b="1">
                <a:solidFill>
                  <a:srgbClr val="0891B2"/>
                </a:solidFill>
              </a:rPr>
              <a:t>36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E4BD8-F86B-4003-BFEB-F6833F2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768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Final feature 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F7BCF-F5D2-48B3-AB01-5989E6C4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A07B-76A5-455A-A26A-DB2A6360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9669"/>
                </a:solidFill>
              </a:defRPr>
            </a:pPr>
            <a:r>
              <a:rPr sz="2175" b="1">
                <a:solidFill>
                  <a:srgbClr val="059669"/>
                </a:solidFill>
              </a:rPr>
              <a:t>20,100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05444-2BA0-455E-866E-C83A1D7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768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Dataset size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f771b363d46ed"/>
          <a:stretch xmlns:a="http://schemas.openxmlformats.org/drawingml/2006/main"/>
        </p:blipFill>
        <p:spPr>
          <a:xfrm xmlns:a="http://schemas.openxmlformats.org/drawingml/2006/main">
            <a:off x="8319890" y="1466850"/>
            <a:ext cx="2715021" cy="2857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35813-F52F-4090-BE5D-DF1958A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86CD2-7E2C-4854-BD0F-3C98496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03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3534F-72AC-4854-990F-2B5F295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D8BFD-2DEA-44AB-89A0-2602DC9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Healthcare fraud is expensive, subtle, and difficult to catch with static rules alone.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54A5A-ABF5-4E99-9988-19726A31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EDFA5-3A03-46E5-8226-E5173652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Identify fraudulent healthcare insurance claims before they are processed and paid.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C7683-98B9-401B-8059-EB2A160C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811D-03E3-44EA-97DD-BC8F3AF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Reduce manual review effort by routing high-risk claims to investigators.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F98AA-8DE6-4A64-A223-794432C8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3360E-C5F6-4937-8A8C-CAA3117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Use supervised classification to learn fraud patterns from historical labeled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3FB00-A610-4308-BE6D-A4ACE14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32F94-2BDE-484C-A448-D6DAFB70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Return both a decision and a probability score for business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BEC32-9F93-4D25-A549-E750973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667000" cy="2857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7A140-38E5-473A-9B20-DFD6F1F5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Business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11963-79C3-443C-86B0-66527C2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1962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Faster claim processing for legitimate cases, earlier detection of suspicious patterns, and lower loss exposure for insurers.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6C7D6-BB61-448F-A3E5-A5339F3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FB2DC-AFEC-41E7-8AA7-30BDC19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8578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5787A-CAA4-41DB-AF96-A309D0B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Dataset and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96BAB-9612-459C-A8BC-85C8E997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data moves from raw claims into a clean encoded feature matrix for model training.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92518-B8FA-4B35-B4E4-42FDD44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651F3-26EA-47A4-8AA3-4532B37B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4155"/>
                </a:solidFill>
              </a:defRPr>
            </a:pPr>
            <a:r>
              <a:rPr sz="2175" b="1">
                <a:solidFill>
                  <a:srgbClr val="334155"/>
                </a:solidFill>
              </a:rPr>
              <a:t>30 cols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C5DF4-DE3C-421E-921D-61014E03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Raw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94892-2D00-45CC-9B7C-FFABE117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859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907E8-A79C-47C9-A480-1BF30129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91B2"/>
                </a:solidFill>
              </a:defRPr>
            </a:pPr>
            <a:r>
              <a:rPr sz="2175" b="1">
                <a:solidFill>
                  <a:srgbClr val="0891B2"/>
                </a:solidFill>
              </a:rPr>
              <a:t>22 cols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0B49D-E427-4BFB-9160-D7964C0F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Cleaned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0444D-3698-49AF-84C6-FFC6A44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859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77623-EA95-4087-85C0-C86C1EB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46E5"/>
                </a:solidFill>
              </a:defRPr>
            </a:pPr>
            <a:r>
              <a:rPr sz="2175" b="1">
                <a:solidFill>
                  <a:srgbClr val="4F46E5"/>
                </a:solidFill>
              </a:rPr>
              <a:t>37 cols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07DCA-7DB6-4FC3-BD67-3F4A538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Encoded / scaled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C3ACC-BD5A-4AB1-B012-3BA5F47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2333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8875C-D46E-470B-8007-B79D9133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11D48"/>
                </a:solidFill>
              </a:defRPr>
            </a:pPr>
            <a:r>
              <a:rPr sz="2175" b="1">
                <a:solidFill>
                  <a:srgbClr val="E11D48"/>
                </a:solidFill>
              </a:rPr>
              <a:t>Is_Fraudulent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C873C-67D9-47F8-8624-9618991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Fraud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886F0-0069-4A2B-817A-6595A295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EC2A1-D3E8-46DC-B346-DDF0A38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Claim financials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D6AC1-32F3-4EA5-B583-3B9943F4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Claim amount, deductible, copay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97810-8D7F-462A-896B-F4F1C3E2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D43F6-A877-44E2-A5D5-3401D09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Patient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BD20A-C367-41A8-969E-D0CC8E79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Age, gender, patient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9CEB4-2E6A-46F0-9206-95C66EEA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39D0C-7C07-4FDA-9EFB-0DE161B5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Provider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D5409-6A43-4129-98F7-8469E27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Provider type, specialty, 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39518-3A28-4D6C-B8B9-BC066D9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13AF5-10D3-4D35-B5EE-B645DE3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57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Behavioral 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3649F-26D9-4DA0-B206-26A5A28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Claim delay, previous claims, distance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1425E-BCD5-4FF9-BCB8-2049F77E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C9BB2-098A-4DE2-BEF9-E3DF0D0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9731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51A35-FA87-411C-B464-EA630995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Preprocessing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9982E-6DDC-4748-8A62-069A23D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Notebook stages transform noisy claim records into model-ready numeric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09018-FE44-400A-8570-7B02524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57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5D056-3916-43F4-9F89-FE45F77A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A4BFB-B093-4AC1-B862-DAEF9E9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Clean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0CBB-1FD6-4457-8892-75B9C68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Drop identifiers, inspect missing values, clip outliers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40B2E-4E2F-4696-B859-EED71B59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67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EBDD0-E62C-4F0B-8C1E-CCDACC6D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657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C2C7B-A9DC-4626-84FF-E6420B5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80663-3455-4C2E-ADF0-A0BF3EB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0ADE2-2A85-49D0-92FF-6B0791D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Label encode compact categories and one-hot provider/discharge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370A9-F358-4724-87F7-85ECA1D3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6EC75-142B-43A1-B44E-5B7D783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657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73062-ABFE-4830-A1C4-3DF68FA4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62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7571C-55A2-4ED0-829A-7D141AF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Engineer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A565A-6519-45FC-9230-D016C479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4330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Derive claim year, month, and delay days from 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F2F4C-6C69-4534-BFDA-AEAF4B1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967A5-897A-421B-8753-9AA1BEC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657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0EA6D-03E5-4500-836E-B0BD49F0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01A31-79FC-441C-B048-C34A156B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B5B40-179D-4BA6-A23B-E04BD902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Standardize numerical columns with StandardScaler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3804E-0292-41EA-A171-C7A0C17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090D1-0859-4F92-9473-D5DE42D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657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200FC-A315-4780-8C01-9E728DA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6E288-5D33-485E-940F-481B056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62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2E6E9-2EB3-427A-A6AB-006B5D5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43300"/>
            <a:ext cx="129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Compare multiple supervised classifiers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2785A-9CEC-4D3E-B82E-7CA310CC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Key scaled columns: Claim Amount, Patient Age, Procedures, Length of Stay, Deductible, CoPay, Previous Claims, Provider Distance, Claim Year, Claim Month, Claim Delay Days.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37442-C7F4-4C8E-BB9B-A6C16D63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F59D8-A453-4B6A-ADCD-72BAD401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4464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B401B-3BDC-4FA4-B88C-EBEB52E3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BA729-B96A-4749-BB73-11D183C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Random Forest is deployed, while XGBoost has the strongest F1 score in the recorded metrics.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F220-0C2E-4BAD-A5C9-F475BAC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F1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CC329-CB5D-4176-AAD2-7155CED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Decision Tree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A1800-1F9F-4814-BFC8-1DE5C8EA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5334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DD03-DB36-486B-994A-9EF0F1F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3147167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7E1A-D1CE-4C99-B99E-FB371136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59.0%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F1742-AF1B-4BCA-A8DE-F8D259E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1D834-0F11-4414-A32E-C697755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5334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9D95-3066-4D8C-AA6D-A282759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3191098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52E4F-01CD-40AE-AE1A-388825C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194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59.8%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D5C29-01B8-4BE2-BD64-3C560BB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5B581-6EFF-4FE9-B6C5-03E6C75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5334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33DCD-A448-4718-B64E-F2D8E1B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3274137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2EA7C-5EC7-4D5E-8841-849BBE8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71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61.4%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2F45C-FEE9-401C-AF38-646AF27E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C06A0-CA86-4DC3-B02E-4E732FB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5334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B7FAC-3286-4919-B98F-836B68D5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3444564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86626-0E18-414E-824F-52C9BF7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64.6%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AEB18-7B43-49F8-8814-0964ED16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SVM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B33A1-9E6F-4283-8AA6-ABEC699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5334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C4388-5D20-4476-87A1-6F1267D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180389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8D699-35F7-457E-9E1A-14DFA30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767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33.8%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9F963-A12E-4E05-9A4D-A1866B52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381250" cy="25717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BC1BD-FCD9-418B-95CE-D30CD865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Deployed Choice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C1AB3-593A-4103-9B17-15A77B9C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46E5"/>
                </a:solidFill>
              </a:defRPr>
            </a:pPr>
            <a:r>
              <a:rPr sz="1875" b="1">
                <a:solidFill>
                  <a:srgbClr val="4F46E5"/>
                </a:solidFill>
              </a:rPr>
              <a:t>Random Forest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E3B1A-A58B-4B08-9E68-E46ED5CD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Strong precision and robust tabular performance make it a practical first deployment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04FDBC-1A50-4BA3-BE10-1943B38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E28CF-B976-429C-8468-1304F63A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538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03DA2-BB04-4096-B2BB-34008CA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API and Prediction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C9592-42F7-4432-942A-7ACA7C54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production path converts analyst input into a scaled feature vector and returns a probability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6653-D32F-4328-AE31-142E721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676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BDF03-25FA-4124-9C3C-B54EBCA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React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3682-9507-4D8B-A84D-1A17D19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Visible claim inputs plus defaults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32324-C731-47AA-BFCC-9345054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6F30-9087-42EB-B79D-81BBF83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676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40E60-FB59-47FF-94F7-FA7801A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FastAPI /predict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89C7E-BABA-4A01-8A92-F083D34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Pydantic validates 36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1E9B8-E551-4E49-B887-11043FA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DC7EF-010A-4C6A-83AC-7B4264FB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676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A2448-C041-4DA4-B37A-24A6417F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Scaler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ABEF7-8EDD-446D-AFDE-85979B7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Standardizes numeric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F16EE-610C-40E0-B4C4-A1A363C8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731D-CA3F-485C-8423-9C0F3DEB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1676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60183-366C-4FC1-907B-FF730FB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Random Forest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EB362-7101-43B0-A17C-3B8E9E48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Predicts class and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AB5B-E80E-4F10-B839-DBF4B8C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93A48-3BB7-403F-82FD-AC624326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676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939FC-7A33-4376-98D9-13C1595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ED0F9-ED55-4F71-9A40-898D5E2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Shows risk status and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73A9A-EF39-4540-82F6-CD4FBAA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Backend endpoints: GET / for health/welcome, POST /predict for fraud scoring.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24F94-8460-4B01-B49A-557679D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7FC15-5C2C-4BD9-AF3A-DC1981EC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2593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B96C6-255B-42FB-B2A9-10DF0F1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Application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7FDD1-55D5-4E68-9FDF-D0C67D5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dashboard turns model output into a quick risk-review screen for analysts.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7E647-E8EC-4968-B1F3-F2C1717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876800" cy="34671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A8912-D63C-4EC1-972E-24B7CAB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New Claim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FEC57-9031-4A7D-AB4B-3F73A3FF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Patient 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FEAA3-00A9-4E57-BFE3-B26C1EC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787A4-06E1-41BB-9181-427E213B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Claim amount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81BE3-11DC-4CB8-8A68-D37A494B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F6AFD-0C9C-4B1F-8EC4-881B8CB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Deductible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8216-8860-4B9B-9253-1720D961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F50BE-1EA7-48D1-9AF3-10A0146E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62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CoPay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2A525-C81A-4AE4-8B50-799AA1EF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9CC5B-E6A4-42BC-BE65-76973350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Claim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43A32-3C4D-46B7-BAF4-14909C23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9C73A-5F3A-4F68-A71E-3B72B92C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29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Claim year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8C84D-A78B-4DBB-89F4-95A6171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5770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70D93-D4C8-416A-A051-420EF33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3695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288B9-9EA6-4378-8FDC-4F2FAFA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Run Predictive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3E258-0F4C-478C-BF24-33A1A47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3905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3FCF4-F71E-4E2C-B768-166DDCE3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Claim Appears Legitimate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0927D-BA0A-4E02-B6D9-8551C0DD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Low probability of fraudulent activity.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502D4-A184-41C9-B3AF-CEADCB92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3905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F4D5B-9834-4E6C-9939-B99A2075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High Risk Detected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326BA-863F-4527-B70E-E499A88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Flagged for immediate investigation.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1B9C0-1757-47C1-95CE-15312769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054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Probability score drives the visual gauge and risk label.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48734-D113-4068-928B-31E1C98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CD0FB-921A-4E9C-9721-141429C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70729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66403-8F26-4736-B5A4-25506309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Deployment Footprint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6E78-56F1-41B7-AC31-3A2387A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repository separates model serving, user interface, datasets, notebooks, and serialized artifacts.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09667-8167-4B25-BAA1-62CCA7C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A91AB-139A-4425-B3D9-D5C808F9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backend/main.py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EF20D-6D52-4300-87FF-CB0D3E4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FastAPI app, CORS, Pydantic schema, scaler and model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A3AE8-6AB8-4856-9330-E37391E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2DED5-0900-4C59-B7CD-293A72D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frontend/src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458FF-84B6-432B-88E4-803FABA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React components for form, results, metrics, and API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83E61-2649-4887-8FFD-7F8CE9F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19DF0-5B8E-4FA6-B4F0-A3841F1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backend/1.Dataset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B94BB-FAE9-4405-9341-F3694CB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Raw, cleaned, encoded, and scaled Excel datasets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C7808-2A69-4E0C-8033-F132E57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7755D-506C-4A10-9B34-520811B0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backend/6.Artifacts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CC5ED-28B1-4CC9-82D6-4C044C6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Serialized models, scaler, and encoders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E584F-E812-4F8F-997A-646AA91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71942-C4E1-4ED9-B200-F2D72139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notebooks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0353-0A27-48FF-96A1-9401D49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Cleaning, encoding, scaling, training and evaluation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8F3DF-C62A-4542-8FFF-172A582F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686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68660-C35A-4D9C-8908-BD151AA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README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3D991-3133-4455-9B72-C37DA7A7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Local run instructions for backend and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125F9-470A-454D-926A-33405B50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753AA-7216-47D4-9B99-01D060F9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9553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562FD-B79E-472E-9255-BA532CF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9ECB8-BE7D-448E-92ED-EA48AF67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prototype works, but the next iteration should tighten reproducibility and explainability.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1632-8F07-450D-8FF3-1E417CA7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AE943-2D98-4BE1-B990-DEFAE07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621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Dashboard exposes only a subset of the 36 model features; the rest are hard-coded defaults.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1CC28-F0E0-4EC6-B96A-31E9650A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92C81-3732-46AC-913A-2E9B8DA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Notebook paths contain older absolute directories, which makes retraining less portable.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46880-05B6-4B91-8B7C-9C0630D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722C-5FB4-40FC-B4E1-F2011673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The deployed model gives a probability but not a reason code or feature explanation.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04FF5-A44D-4810-AF3C-16D1180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CEC76-BB9A-464E-8C37-08E2ACAB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Fraud techniques evolve, so static training data can become stale over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6FFE3-BA0F-4465-8198-4119F174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324100" cy="26479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9968B-9293-41B1-B6D4-A444EFCE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Priority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41414-8BFA-4ED2-A8A0-11BEEBF1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Make the feature pipeline reusable between notebooks, API, and frontend so scoring matches training exactly.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7E7D7-A1FA-4243-B74F-19CEB60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6D7AE-E390-4B0F-8EE3-31E0B17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060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6E13E-B336-486A-A3D1-C60E5F8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A003C-A6DB-419F-BA85-82D7C6D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 stronger production system can combine automation, explanations, and continuous learning.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C8B4A-72D5-49C4-A4D1-195520EF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383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42712-81B1-4E85-94D7-25E1AB2D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Continuous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E7BB4-7484-49BD-85C2-6ADB889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Retrain periodically using newly reviewed claim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055BB-A6BF-4C53-86E6-8B26419E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0383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00CC-790C-4668-8002-0C2DEEC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Explainable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A5769-0DB7-41FF-A0D9-8EF3BC9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528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Add SHAP-style reason codes for investigator trust.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8796D-6444-42C5-9E10-1FC020E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0383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830CF-E7B3-4A10-9773-AE88F2E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Fraud 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5B951-FECD-402D-A898-7852709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 graph analysis to detect provider or patient rings.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3694F-5EB1-4F05-BC4D-471F811B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20383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67114-9D6D-40C6-B356-AAFD3AA9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Operational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93FF8-C691-4FFE-8352-3F8841E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Add thresholds, audit logs, and human review queues.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1A872-F1BD-43AC-ACBE-F67819E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</a:defRPr>
            </a:pPr>
            <a:r>
              <a:rPr sz="1950" b="1">
                <a:solidFill>
                  <a:srgbClr val="0891B2"/>
                </a:solidFill>
              </a:rPr>
              <a:t>Outcome: fewer losses, faster decisions, and more transparent fraud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80334-0797-4094-B5DE-C13A83D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Healthcare Insurance Claim Fraud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3B870-A07E-4424-A2FE-4968228E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8757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2026-07-02T13:47:29.2870000Z</dcterms:created>
  <dcterms:modified xsi:type="dcterms:W3CDTF">2026-07-02T13:47:29.2870000Z</dcterms:modified>
</coreProperties>
</file>